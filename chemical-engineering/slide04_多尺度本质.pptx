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1A1A"/>
                </a:solidFill>
              </a:defRPr>
            </a:pPr>
            <a:r>
              <a:t>化学工程: 一个跨尺度的系统工程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化学工程的本质是将分子转化为产品——这个链条跨越10个数量级。每个尺度都有独立的AI工具，但尺度之间的信息传递至今仍靠人工经验。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69848"/>
            <a:ext cx="1463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888888"/>
                </a:solidFill>
              </a:defRPr>
            </a:pPr>
            <a:r>
              <a:t>研究对象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069848"/>
            <a:ext cx="1463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888888"/>
                </a:solidFill>
              </a:defRPr>
            </a:pPr>
            <a:r>
              <a:t>典型方法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069848"/>
            <a:ext cx="1463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888888"/>
                </a:solidFill>
              </a:defRPr>
            </a:pPr>
            <a:r>
              <a:t>时间 / 成本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10881360" cy="987552"/>
          </a:xfrm>
          <a:prstGeom prst="rect">
            <a:avLst/>
          </a:prstGeom>
          <a:solidFill>
            <a:srgbClr val="F2F2F7"/>
          </a:solidFill>
          <a:ln w="635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234440"/>
            <a:ext cx="45720" cy="98755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1536192"/>
            <a:ext cx="384048" cy="384048"/>
          </a:xfrm>
          <a:prstGeom prst="ellipse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量子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307592"/>
            <a:ext cx="109728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B2D8B"/>
                </a:solidFill>
              </a:defRPr>
            </a:pPr>
            <a:r>
              <a:t>量子/电子</a:t>
            </a:r>
          </a:p>
          <a:p>
            <a:pPr>
              <a:defRPr sz="800">
                <a:solidFill>
                  <a:srgbClr val="888888"/>
                </a:solidFill>
              </a:defRPr>
            </a:pPr>
            <a:r>
              <a:t>10⁻¹⁰ m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243584" y="2221992"/>
            <a:ext cx="91440" cy="54864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344168"/>
            <a:ext cx="256032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D2D2D"/>
                </a:solidFill>
              </a:defRPr>
            </a:pPr>
            <a:r>
              <a:t>电子结构 · 反应能垒 · 态密度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344168"/>
            <a:ext cx="292608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D2D2D"/>
                </a:solidFill>
              </a:defRPr>
            </a:pPr>
            <a:r>
              <a:t>DFT第一性原理 (VASP)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362456"/>
            <a:ext cx="228600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8B57"/>
                </a:solidFill>
              </a:defRPr>
            </a:pPr>
            <a:r>
              <a:t>数小时 / 结构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276856"/>
            <a:ext cx="1088136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276856"/>
            <a:ext cx="45720" cy="987552"/>
          </a:xfrm>
          <a:prstGeom prst="rect">
            <a:avLst/>
          </a:prstGeom>
          <a:solidFill>
            <a:srgbClr val="3A7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2578608"/>
            <a:ext cx="384048" cy="384048"/>
          </a:xfrm>
          <a:prstGeom prst="ellipse">
            <a:avLst/>
          </a:prstGeom>
          <a:solidFill>
            <a:srgbClr val="3A7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分子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350008"/>
            <a:ext cx="109728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A7CBF"/>
                </a:solidFill>
              </a:defRPr>
            </a:pPr>
            <a:r>
              <a:t>分子/晶体</a:t>
            </a:r>
          </a:p>
          <a:p>
            <a:pPr>
              <a:defRPr sz="800">
                <a:solidFill>
                  <a:srgbClr val="888888"/>
                </a:solidFill>
              </a:defRPr>
            </a:pPr>
            <a:r>
              <a:t>10⁻⁹ m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243584" y="3264408"/>
            <a:ext cx="91440" cy="54864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2386584"/>
            <a:ext cx="256032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D2D2D"/>
                </a:solidFill>
              </a:defRPr>
            </a:pPr>
            <a:r>
              <a:t>晶体结构 · 分子构象 · 热力学稳定性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386584"/>
            <a:ext cx="292608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D2D2D"/>
                </a:solidFill>
              </a:defRPr>
            </a:pPr>
            <a:r>
              <a:t>分子动力学 · 蒙特卡洛模拟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404872"/>
            <a:ext cx="228600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8B57"/>
                </a:solidFill>
              </a:defRPr>
            </a:pPr>
            <a:r>
              <a:t>数天 / 体系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319272"/>
            <a:ext cx="10881360" cy="987552"/>
          </a:xfrm>
          <a:prstGeom prst="rect">
            <a:avLst/>
          </a:prstGeom>
          <a:solidFill>
            <a:srgbClr val="F2F2F7"/>
          </a:solidFill>
          <a:ln w="635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319272"/>
            <a:ext cx="45720" cy="987552"/>
          </a:xfrm>
          <a:prstGeom prst="rect">
            <a:avLst/>
          </a:prstGeom>
          <a:solidFill>
            <a:srgbClr val="17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7280" y="3621024"/>
            <a:ext cx="384048" cy="384048"/>
          </a:xfrm>
          <a:prstGeom prst="ellipse">
            <a:avLst/>
          </a:prstGeom>
          <a:solidFill>
            <a:srgbClr val="17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反应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392424"/>
            <a:ext cx="109728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8B8B"/>
                </a:solidFill>
              </a:defRPr>
            </a:pPr>
            <a:r>
              <a:t>反应器/单元</a:t>
            </a:r>
          </a:p>
          <a:p>
            <a:pPr>
              <a:defRPr sz="800">
                <a:solidFill>
                  <a:srgbClr val="888888"/>
                </a:solidFill>
              </a:defRPr>
            </a:pPr>
            <a:r>
              <a:t>10⁰ m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1243584" y="4306824"/>
            <a:ext cx="91440" cy="54864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3429000"/>
            <a:ext cx="256032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D2D2D"/>
                </a:solidFill>
              </a:defRPr>
            </a:pPr>
            <a:r>
              <a:t>动力学 · 传质传热 · 转化率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429000"/>
            <a:ext cx="292608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D2D2D"/>
                </a:solidFill>
              </a:defRPr>
            </a:pPr>
            <a:r>
              <a:t>CFD + Aspen / gPROMS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3447288"/>
            <a:ext cx="228600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8B57"/>
                </a:solidFill>
              </a:defRPr>
            </a:pPr>
            <a:r>
              <a:t>数周 / 工况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361688"/>
            <a:ext cx="1088136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361688"/>
            <a:ext cx="45720" cy="987552"/>
          </a:xfrm>
          <a:prstGeom prst="rect">
            <a:avLst/>
          </a:prstGeom>
          <a:solidFill>
            <a:srgbClr val="D4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7280" y="4663440"/>
            <a:ext cx="384048" cy="384048"/>
          </a:xfrm>
          <a:prstGeom prst="ellipse">
            <a:avLst/>
          </a:prstGeom>
          <a:solidFill>
            <a:srgbClr val="D4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工艺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4434840"/>
            <a:ext cx="109728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47E2E"/>
                </a:solidFill>
              </a:defRPr>
            </a:pPr>
            <a:r>
              <a:t>工艺流程</a:t>
            </a:r>
          </a:p>
          <a:p>
            <a:pPr>
              <a:defRPr sz="800">
                <a:solidFill>
                  <a:srgbClr val="888888"/>
                </a:solidFill>
              </a:defRPr>
            </a:pPr>
            <a:r>
              <a:t>10² m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1243584" y="5349240"/>
            <a:ext cx="91440" cy="54864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0" y="4471416"/>
            <a:ext cx="256032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D2D2D"/>
                </a:solidFill>
              </a:defRPr>
            </a:pPr>
            <a:r>
              <a:t>物料平衡 · 能量集成 · 设备拓扑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4471416"/>
            <a:ext cx="292608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D2D2D"/>
                </a:solidFill>
              </a:defRPr>
            </a:pPr>
            <a:r>
              <a:t>PFD + P&amp;ID · 过程系统工程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4489704"/>
            <a:ext cx="228600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8B57"/>
                </a:solidFill>
              </a:defRPr>
            </a:pPr>
            <a:r>
              <a:t>数月 / 设计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404104"/>
            <a:ext cx="10881360" cy="987552"/>
          </a:xfrm>
          <a:prstGeom prst="rect">
            <a:avLst/>
          </a:prstGeom>
          <a:solidFill>
            <a:srgbClr val="F2F2F7"/>
          </a:solidFill>
          <a:ln w="635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5404104"/>
            <a:ext cx="45720" cy="987552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7280" y="5705856"/>
            <a:ext cx="384048" cy="384048"/>
          </a:xfrm>
          <a:prstGeom prst="ellipse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工厂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5477256"/>
            <a:ext cx="109728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C4444"/>
                </a:solidFill>
              </a:defRPr>
            </a:pPr>
            <a:r>
              <a:t>工厂/系统</a:t>
            </a:r>
          </a:p>
          <a:p>
            <a:pPr>
              <a:defRPr sz="800">
                <a:solidFill>
                  <a:srgbClr val="888888"/>
                </a:solidFill>
              </a:defRPr>
            </a:pPr>
            <a:r>
              <a:t>10³ 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5513832"/>
            <a:ext cx="256032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D2D2D"/>
                </a:solidFill>
              </a:defRPr>
            </a:pPr>
            <a:r>
              <a:t>排产调度 · 安全管控 · 碳排放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5513832"/>
            <a:ext cx="292608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D2D2D"/>
                </a:solidFill>
              </a:defRPr>
            </a:pPr>
            <a:r>
              <a:t>MES + APC · 全厂实时优化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5532120"/>
            <a:ext cx="228600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8B57"/>
                </a:solidFill>
              </a:defRPr>
            </a:pPr>
            <a:r>
              <a:t>持续运行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6556248"/>
            <a:ext cx="10881360" cy="402336"/>
          </a:xfrm>
          <a:prstGeom prst="rect">
            <a:avLst/>
          </a:prstGeom>
          <a:solidFill>
            <a:srgbClr val="FFF5F0"/>
          </a:solidFill>
          <a:ln w="12700">
            <a:solidFill>
              <a:srgbClr val="E0C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C4444"/>
                </a:solidFill>
              </a:defRPr>
            </a:pPr>
            <a:r>
              <a:t>⚠ 核心瓶颈: 每个尺度都有AI工具，但跨越尺度的信息传递至今靠人工——DFT计算的结果如何指导工厂操作? 这是化工AI的根本挑战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