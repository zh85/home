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C"/>
                </a:solidFill>
                <a:latin typeface="Microsoft YaHei"/>
              </a:defRPr>
            </a:pPr>
            <a:r>
              <a:t>中国科学技术大学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Microsoft YaHei"/>
              </a:defRPr>
            </a:pPr>
            <a:r>
              <a:t>University of Science and Technology of China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64592"/>
            <a:ext cx="13716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D7C"/>
                </a:solidFill>
                <a:latin typeface="Microsoft YaHei"/>
              </a:defRPr>
            </a:pPr>
            <a:r>
              <a:t>科研分享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594360"/>
            <a:ext cx="1828800" cy="2286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73152" cy="164592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D7C"/>
                </a:solidFill>
                <a:latin typeface="Microsoft YaHei"/>
              </a:defRPr>
            </a:pPr>
            <a:r>
              <a:t>科研选题方法论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Microsoft YaHei"/>
              </a:defRPr>
            </a:pPr>
            <a:r>
              <a:t>如何找到真正的 Research Gap 并设计可证伪的实验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200400"/>
            <a:ext cx="2743200" cy="2286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Microsoft YaHei"/>
              </a:defRPr>
            </a:pPr>
            <a:r>
              <a:t>—— 以 CrysLLMGen (NeurIPS 2025) 实验为例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7548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分享人：张恒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CrysLLMGen: LLM + Diffusion 混合框架用于晶体材料生成</a:t>
            </a:r>
          </a:p>
          <a:p>
            <a:pPr algn="l">
              <a:spcAft>
                <a:spcPts val="350"/>
              </a:spcAft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arXiv:2510.23040  |  NeurIPS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C"/>
                </a:solidFill>
                <a:latin typeface="Microsoft YaHei"/>
              </a:defRPr>
            </a:pPr>
            <a:r>
              <a:t>中国科学技术大学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Microsoft YaHei"/>
              </a:defRPr>
            </a:pPr>
            <a:r>
              <a:t>University of Science and Technology of China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64592"/>
            <a:ext cx="13716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D7C"/>
                </a:solidFill>
                <a:latin typeface="Microsoft YaHei"/>
              </a:defRPr>
            </a:pPr>
            <a:r>
              <a:t>一、选题核心框架：GAP → METHOD → 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594360"/>
            <a:ext cx="1828800" cy="2286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48640" y="1051560"/>
            <a:ext cx="256032" cy="201168"/>
          </a:xfrm>
          <a:prstGeom prst="rightArrow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33271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7C"/>
                </a:solidFill>
                <a:latin typeface="Microsoft YaHei"/>
              </a:defRPr>
            </a:pPr>
            <a:r>
              <a:t>好选题的本质：在已有工作的缝隙中找到真正的互补性，而非简单地替换工具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GAP 不是"没人做过"，而是"互补性未被利用"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566160" cy="4480560"/>
          </a:xfrm>
          <a:prstGeom prst="roundRect">
            <a:avLst/>
          </a:prstGeom>
          <a:solidFill>
            <a:srgbClr val="E8F0F8"/>
          </a:solidFill>
          <a:ln w="27432">
            <a:solidFill>
              <a:srgbClr val="003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566160" cy="50292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C"/>
                </a:solidFill>
                <a:latin typeface="Microsoft YaHei"/>
              </a:defRPr>
            </a:pPr>
            <a:r>
              <a:t>现有方法缺什么？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信号 1: LLM 成功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✓ 离散符号推理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✓ 元素类型预测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✗ 精确坐标生成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信号 2: 扩散模型成功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✓ 连续坐标精修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✓ 物理约束满足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✗ 化学知识利用</a:t>
            </a:r>
          </a:p>
          <a:p>
            <a:pPr algn="l">
              <a:spcAft>
                <a:spcPts val="15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25"/>
              </a:spcAft>
              <a:defRPr sz="1300" b="1">
                <a:solidFill>
                  <a:srgbClr val="CC0000"/>
                </a:solidFill>
                <a:latin typeface="Microsoft YaHei"/>
              </a:defRPr>
            </a:pPr>
            <a:r>
              <a:t>→ 两者割裂，互补性未利用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828800"/>
            <a:ext cx="3566160" cy="4480560"/>
          </a:xfrm>
          <a:prstGeom prst="roundRect">
            <a:avLst/>
          </a:prstGeom>
          <a:solidFill>
            <a:srgbClr val="FFFFFF"/>
          </a:solidFill>
          <a:ln w="27432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566160" cy="50292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如何填补这个缺口？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26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二阶段混合框架：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① LLM (LLaMA-3-8B + LoRA)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文本生成晶体结构描述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② CSPDiffusion (等变GNN)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对LLM输出做扩散精修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③ 条件注入：LLM特征 → 扩散模型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828800"/>
            <a:ext cx="3566160" cy="4480560"/>
          </a:xfrm>
          <a:prstGeom prst="roundRect">
            <a:avLst/>
          </a:prstGeom>
          <a:solidFill>
            <a:srgbClr val="FFFFFF"/>
          </a:solidFill>
          <a:ln w="27432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566160" cy="5029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8745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33"/>
                </a:solidFill>
                <a:latin typeface="Microsoft YaHei"/>
              </a:defRPr>
            </a:pPr>
            <a:r>
              <a:t>如何证明方法更好？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系统对比三种条件注入：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A: 无条件 (Baseline)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B: Additive 注入 (2.3M参数)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C: Cross-Attn 注入 (6.3M参数)</a:t>
            </a:r>
          </a:p>
          <a:p>
            <a:pPr algn="l">
              <a:spcAft>
                <a:spcPts val="15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锁定所有其他变量：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数据 · Backbone · 超参 · 评估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23360" y="6035040"/>
            <a:ext cx="914400" cy="164592"/>
          </a:xfrm>
          <a:prstGeom prst="rightArrow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863840" y="6035040"/>
            <a:ext cx="914400" cy="164592"/>
          </a:xfrm>
          <a:prstGeom prst="rightArrow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真Gap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新方法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10881360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C"/>
                </a:solidFill>
                <a:latin typeface="Microsoft YaHei"/>
              </a:defRPr>
            </a:pPr>
            <a:r>
              <a:t>💡 选题不是在真空中想 idea，而是在已有工作的缝隙中找空间——互补性是本质，不是表面包装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C"/>
                </a:solidFill>
                <a:latin typeface="Microsoft YaHei"/>
              </a:defRPr>
            </a:pPr>
            <a:r>
              <a:t>中国科学技术大学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Microsoft YaHei"/>
              </a:defRPr>
            </a:pPr>
            <a:r>
              <a:t>University of Science and Technology of China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64592"/>
            <a:ext cx="13716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D7C"/>
                </a:solidFill>
                <a:latin typeface="Microsoft YaHei"/>
              </a:defRPr>
            </a:pPr>
            <a:r>
              <a:t>二、Case Study: CrysLLMGen 实验设计与关键教训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594360"/>
            <a:ext cx="1828800" cy="2286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48640" y="1051560"/>
            <a:ext cx="256032" cy="201168"/>
          </a:xfrm>
          <a:prstGeom prst="rightArrow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33271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7C"/>
                </a:solidFill>
                <a:latin typeface="Microsoft YaHei"/>
              </a:defRPr>
            </a:pPr>
            <a:r>
              <a:t>一次实验结果不是结论，它只是下一轮研究判断的输入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D7C"/>
                </a:solidFill>
                <a:latin typeface="Microsoft YaHei"/>
              </a:defRPr>
            </a:pPr>
            <a:r>
              <a:t>▎实验设计：最小可变原则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5486400" cy="73152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003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D7C"/>
                </a:solidFill>
                <a:latin typeface="Microsoft YaHei"/>
              </a:defRPr>
            </a:pPr>
            <a:r>
              <a:t>A: Unconditional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无 LLM 特征注入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参数增量: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88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0000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73152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B: Additive Cond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LLM 4096d → MLP → 512d，加性偏置，注入 1 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参数增量: +2.3M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0000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5486400" cy="73152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33"/>
                </a:solidFill>
                <a:latin typeface="Microsoft YaHei"/>
              </a:defRPr>
            </a:pPr>
            <a:r>
              <a:t>C: Cross-Attn Cond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LLM 4096d → 8×512d tokens，逐层 attention，注入 6 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参数增量: +6.3M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  <a:latin typeface="Microsoft YaHei"/>
              </a:defRPr>
            </a:pPr>
            <a:r>
              <a:t>🔒 锁定变量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数据: MP-20 | LLM: LLaMA-3-8B+LoRA | Backbone: CSPNet(6层)</a:t>
            </a:r>
            <a:br/>
            <a:r>
              <a:t>训练: 500 epoch, bs=512 | 采样: 10000样本 | 评估: 5类指标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Microsoft YaHei"/>
              </a:defRPr>
            </a:pPr>
            <a:r>
              <a:t>▎三个核心教训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057400"/>
            <a:ext cx="5029200" cy="1188720"/>
          </a:xfrm>
          <a:prstGeom prst="roundRect">
            <a:avLst/>
          </a:prstGeom>
          <a:solidFill>
            <a:srgbClr val="E8F0F8"/>
          </a:solidFill>
          <a:ln w="18288">
            <a:solidFill>
              <a:srgbClr val="003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130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D7C"/>
                </a:solidFill>
                <a:latin typeface="Microsoft YaHei"/>
              </a:defRPr>
            </a:pPr>
            <a:r>
              <a:t>教训 1: 简单方案可能足够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4688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Additive 仅 2.3M 参数，已实现 87.18% 化学有效性、99.97% 结构有效性。</a:t>
            </a:r>
            <a:br/>
            <a:r>
              <a:t>LLM 特征的大部分价值已被简单的加性偏置捕获。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429000"/>
            <a:ext cx="5029200" cy="118872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5021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教训 2: 更强表达力 ≠ 更好结果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8404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Cross-Attn 在 epoch 200 的 loss (0.513) 与 Additive (0.507) 几乎持平。</a:t>
            </a:r>
            <a:br/>
            <a:r>
              <a:t>6.3M 额外参数未带来训练层面提升——这本身就是重要发现。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00600"/>
            <a:ext cx="5029200" cy="118872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873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33"/>
                </a:solidFill>
                <a:latin typeface="Microsoft YaHei"/>
              </a:defRPr>
            </a:pPr>
            <a:r>
              <a:t>教训 3: 工程是实验的真正瓶颈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2120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训练崩溃 (epoch 210)、CUDA OOM (×3)、进程冲突...</a:t>
            </a:r>
            <a:br/>
            <a:r>
              <a:t>这些问题占用的时间远超算法设计。脚本化 + 日志 + 检查点 = 实验的护城河。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10881360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D7C"/>
                </a:solidFill>
                <a:latin typeface="Microsoft YaHei"/>
              </a:defRPr>
            </a:pPr>
            <a:r>
              <a:t>💡 三种结果都有意义：Cross-Attn &gt; Additive → 方法有价值 | Cross-Attn ≈ Additive → 简单方案足够 | Cross-Attn &lt; Additive → 复杂性有害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C"/>
                </a:solidFill>
                <a:latin typeface="Microsoft YaHei"/>
              </a:defRPr>
            </a:pPr>
            <a:r>
              <a:t>中国科学技术大学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Microsoft YaHei"/>
              </a:defRPr>
            </a:pPr>
            <a:r>
              <a:t>University of Science and Technology of China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64592"/>
            <a:ext cx="13716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37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D7C"/>
                </a:solidFill>
                <a:latin typeface="Microsoft YaHei"/>
              </a:defRPr>
            </a:pPr>
            <a:r>
              <a:t>三、选题实操流程 &amp; Take-Home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594360"/>
            <a:ext cx="1828800" cy="2286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48640" y="1051560"/>
            <a:ext cx="256032" cy="201168"/>
          </a:xfrm>
          <a:prstGeom prst="rightArrow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33271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7C"/>
                </a:solidFill>
                <a:latin typeface="Microsoft YaHei"/>
              </a:defRPr>
            </a:pPr>
            <a:r>
              <a:t>选题不是玄学，是一套可以反复使用的方法论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45920"/>
            <a:ext cx="214884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3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2148840" cy="457200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1. 画能力边界图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列出各方法擅长/不擅长的维度</a:t>
            </a:r>
            <a:br/>
            <a:r>
              <a:t>找到天然互补的两个方向</a:t>
            </a:r>
            <a:br/>
            <a:r>
              <a:t>例: LLM(离散✓连续✗) + 扩散(连续✓离散✗)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32888" y="2651760"/>
            <a:ext cx="146304" cy="128016"/>
          </a:xfrm>
          <a:prstGeom prst="rightArrow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97479" y="1645920"/>
            <a:ext cx="214884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79" y="1645920"/>
            <a:ext cx="214884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6916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2. 设计最小对比单元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24028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Base → Base+A → Base+A+B</a:t>
            </a:r>
            <a:br/>
            <a:r>
              <a:t>每个实验只变一个变量</a:t>
            </a:r>
            <a:br/>
            <a:r>
              <a:t>任何结果都有科学价值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64607" y="2651760"/>
            <a:ext cx="146304" cy="128016"/>
          </a:xfrm>
          <a:prstGeom prst="rightArrow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1645920"/>
            <a:ext cx="214884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2148840" cy="4572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6916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3. 锁定不变项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24028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数据、backbone、超参、评估方式</a:t>
            </a:r>
            <a:br/>
            <a:r>
              <a:t>全部固定，确保对比公平</a:t>
            </a:r>
            <a:br/>
            <a:r>
              <a:t>差异的来源可追溯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96327" y="2651760"/>
            <a:ext cx="146304" cy="128016"/>
          </a:xfrm>
          <a:prstGeom prst="rightArrow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19" y="1645920"/>
            <a:ext cx="214884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19" y="1645920"/>
            <a:ext cx="2148840" cy="4572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59" y="16916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 建立评估矩阵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224028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每种方法 × 每类指标</a:t>
            </a:r>
            <a:br/>
            <a:r>
              <a:t>覆盖多维度: 质量+分布+覆盖</a:t>
            </a:r>
            <a:br/>
            <a:r>
              <a:t>避免单指标过拟合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28047" y="2651760"/>
            <a:ext cx="146304" cy="128016"/>
          </a:xfrm>
          <a:prstGeom prst="rightArrow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1645920"/>
            <a:ext cx="214884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645920"/>
            <a:ext cx="2148840" cy="4572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6916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5. 预留容错空间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24028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GPU 资源 1.5x 冗余</a:t>
            </a:r>
            <a:br/>
            <a:r>
              <a:t>每个检查点可恢复 → 分步脚本</a:t>
            </a:r>
            <a:br/>
            <a:r>
              <a:t>日志详尽 → 复现的前提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D7C"/>
                </a:solidFill>
                <a:latin typeface="Microsoft YaHei"/>
              </a:defRPr>
            </a:pPr>
            <a:r>
              <a:t>▎好选题的 4 个特征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2651760" cy="68580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003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645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D7C"/>
                </a:solidFill>
                <a:latin typeface="Microsoft YaHei"/>
              </a:defRPr>
            </a:pPr>
            <a:r>
              <a:t>有 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645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互补性被利用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4572000"/>
            <a:ext cx="2651760" cy="68580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0" y="4645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6A17"/>
                </a:solidFill>
                <a:latin typeface="Microsoft YaHei"/>
              </a:defRPr>
            </a:pPr>
            <a:r>
              <a:t>可证伪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645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失败也有价值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59" y="4572000"/>
            <a:ext cx="2651760" cy="68580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645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A33"/>
                </a:solidFill>
                <a:latin typeface="Microsoft YaHei"/>
              </a:defRPr>
            </a:pPr>
            <a:r>
              <a:t>可分解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645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逐级验证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19" y="4572000"/>
            <a:ext cx="2651760" cy="685800"/>
          </a:xfrm>
          <a:prstGeom prst="roundRect">
            <a:avLst/>
          </a:prstGeom>
          <a:solidFill>
            <a:srgbClr val="FFFFFF"/>
          </a:solidFill>
          <a:ln w="18288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46451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Microsoft YaHei"/>
              </a:defRPr>
            </a:pPr>
            <a:r>
              <a:t>可扩展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59" y="46451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容纳未来改进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669279"/>
            <a:ext cx="108813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7C"/>
                </a:solidFill>
                <a:latin typeface="Microsoft YaHei"/>
              </a:defRPr>
            </a:pPr>
            <a:r>
              <a:t>🎯 核心原则</a:t>
            </a:r>
            <a:br/>
            <a:r>
              <a:t>好的选题 = 找到真正的互补性 gap（不是换工具）  |  好的实验 = 只变一个变量的逐级对比（任何结果都有价值）  |  好的工程 = 脚本化 + 可恢复 + 详细日志（工程是实验的护城河）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